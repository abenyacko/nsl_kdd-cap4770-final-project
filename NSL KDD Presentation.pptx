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Without Oversampling</c:v>
                </c:pt>
              </c:strCache>
            </c:strRef>
          </c:tx>
          <c:spPr>
            <a:solidFill>
              <a:srgbClr val="6070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Logistic
Regression</c:v>
                  </c:pt>
                  <c:pt idx="1">
                    <c:v>Naive
Bayes</c:v>
                  </c:pt>
                  <c:pt idx="2">
                    <c:v>KNN</c:v>
                  </c:pt>
                  <c:pt idx="3">
                    <c:v>Decision
Tree</c:v>
                  </c:pt>
                  <c:pt idx="4">
                    <c:v>Random
Forest</c:v>
                  </c:pt>
                  <c:pt idx="5">
                    <c:v>SVM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0.8011</c:v>
                </c:pt>
                <c:pt idx="1">
                  <c:v>0.73</c:v>
                </c:pt>
                <c:pt idx="2">
                  <c:v>0.9608</c:v>
                </c:pt>
                <c:pt idx="3">
                  <c:v>0.9632</c:v>
                </c:pt>
                <c:pt idx="4">
                  <c:v>0.9734</c:v>
                </c:pt>
                <c:pt idx="5">
                  <c:v>0.9506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Oversampling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Logistic
Regression</c:v>
                  </c:pt>
                  <c:pt idx="1">
                    <c:v>Naive
Bayes</c:v>
                  </c:pt>
                  <c:pt idx="2">
                    <c:v>KNN</c:v>
                  </c:pt>
                  <c:pt idx="3">
                    <c:v>Decision
Tree</c:v>
                  </c:pt>
                  <c:pt idx="4">
                    <c:v>Random
Forest</c:v>
                  </c:pt>
                  <c:pt idx="5">
                    <c:v>SVM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0.6957</c:v>
                </c:pt>
                <c:pt idx="1">
                  <c:v>0.7049</c:v>
                </c:pt>
                <c:pt idx="2">
                  <c:v>0.944</c:v>
                </c:pt>
                <c:pt idx="3">
                  <c:v>0.9683</c:v>
                </c:pt>
                <c:pt idx="4">
                  <c:v>0.9765</c:v>
                </c:pt>
                <c:pt idx="5">
                  <c:v>0.9326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5"/>
          <c:min val="0.6"/>
        </c:scaling>
        <c:delete val="0"/>
        <c:axPos val="l"/>
        <c:majorGridlines>
          <c:spPr>
            <a:ln w="6350" cap="flat">
              <a:solidFill>
                <a:srgbClr val="D0D8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4F7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Naive Bayes</c:v>
                </c:pt>
              </c:strCache>
            </c:strRef>
          </c:tx>
          <c:spPr>
            <a:solidFill>
              <a:srgbClr val="607080"/>
            </a:solidFill>
            <a:ln w="25400" cap="flat">
              <a:solidFill>
                <a:srgbClr val="60708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07080"/>
              </a:solidFill>
              <a:ln w="9525" cap="flat">
                <a:solidFill>
                  <a:srgbClr val="607080"/>
                </a:solidFill>
                <a:prstDash val="solid"/>
                <a:round/>
              </a:ln>
              <a:effectLst/>
            </c:spPr>
          </c:marker>
          <c:xVal>
            <c:numRef>
              <c:f>Sheet1!$A$2:$A$2</c:f>
              <c:numCache>
                <c:formatCode>General</c:formatCode>
                <c:ptCount val="1"/>
                <c:pt idx="0">
                  <c:v>0.5628</c:v>
                </c:pt>
              </c:numCache>
            </c:numRef>
          </c:xVal>
          <c:yVal>
            <c:numRef>
              <c:f>Sheet1!$B$2:$B$2</c:f>
              <c:numCache>
                <c:formatCode>General</c:formatCode>
                <c:ptCount val="1"/>
                <c:pt idx="0">
                  <c:v>0.576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SVM</c:v>
                </c:pt>
              </c:strCache>
            </c:strRef>
          </c:tx>
          <c:spPr>
            <a:solidFill>
              <a:srgbClr val="B0B8C4"/>
            </a:solidFill>
            <a:ln w="25400" cap="flat">
              <a:solidFill>
                <a:srgbClr val="B0B8C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B0B8C4"/>
              </a:solidFill>
              <a:ln w="9525" cap="flat">
                <a:solidFill>
                  <a:srgbClr val="B0B8C4"/>
                </a:solidFill>
                <a:prstDash val="solid"/>
                <a:round/>
              </a:ln>
              <a:effectLst/>
            </c:spPr>
          </c:marker>
          <c:xVal>
            <c:numRef>
              <c:f>Sheet1!$A$2:$A$2</c:f>
              <c:numCache>
                <c:formatCode>General</c:formatCode>
                <c:ptCount val="1"/>
                <c:pt idx="0">
                  <c:v>0.5628</c:v>
                </c:pt>
              </c:numCache>
            </c:numRef>
          </c:xVal>
          <c:yVal>
            <c:numRef>
              <c:f>Sheet1!$C$2:$C$2</c:f>
              <c:numCache>
                <c:formatCode>General</c:formatCode>
                <c:ptCount val="1"/>
                <c:pt idx="0">
                  <c:v>0.8869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KNN</c:v>
                </c:pt>
              </c:strCache>
            </c:strRef>
          </c:tx>
          <c:spPr>
            <a:solidFill>
              <a:srgbClr val="1E88E5"/>
            </a:solidFill>
            <a:ln w="25400" cap="flat">
              <a:solidFill>
                <a:srgbClr val="1E88E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88E5"/>
              </a:solidFill>
              <a:ln w="9525" cap="flat">
                <a:solidFill>
                  <a:srgbClr val="1E88E5"/>
                </a:solidFill>
                <a:prstDash val="solid"/>
                <a:round/>
              </a:ln>
              <a:effectLst/>
            </c:spPr>
          </c:marker>
          <c:xVal>
            <c:numRef>
              <c:f>Sheet1!$A$2:$A$2</c:f>
              <c:numCache>
                <c:formatCode>General</c:formatCode>
                <c:ptCount val="1"/>
                <c:pt idx="0">
                  <c:v>0.5628</c:v>
                </c:pt>
              </c:numCache>
            </c:numRef>
          </c:xVal>
          <c:yVal>
            <c:numRef>
              <c:f>Sheet1!$D$2:$D$2</c:f>
              <c:numCache>
                <c:formatCode>General</c:formatCode>
                <c:ptCount val="1"/>
                <c:pt idx="0">
                  <c:v>0.9054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Decision Tree</c:v>
                </c:pt>
              </c:strCache>
            </c:strRef>
          </c:tx>
          <c:spPr>
            <a:solidFill>
              <a:srgbClr val="00838F"/>
            </a:solidFill>
            <a:ln w="25400" cap="flat">
              <a:solidFill>
                <a:srgbClr val="00838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838F"/>
              </a:solidFill>
              <a:ln w="9525" cap="flat">
                <a:solidFill>
                  <a:srgbClr val="00838F"/>
                </a:solidFill>
                <a:prstDash val="solid"/>
                <a:round/>
              </a:ln>
              <a:effectLst/>
            </c:spPr>
          </c:marker>
          <c:xVal>
            <c:numRef>
              <c:f>Sheet1!$A$2:$A$2</c:f>
              <c:numCache>
                <c:formatCode>General</c:formatCode>
                <c:ptCount val="1"/>
                <c:pt idx="0">
                  <c:v>0.5628</c:v>
                </c:pt>
              </c:numCache>
            </c:numRef>
          </c:xVal>
          <c:yVal>
            <c:numRef>
              <c:f>Sheet1!$E$2:$E$2</c:f>
              <c:numCache>
                <c:formatCode>General</c:formatCode>
                <c:ptCount val="1"/>
                <c:pt idx="0">
                  <c:v>0.959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1565C0"/>
            </a:solidFill>
            <a:ln w="25400" cap="flat">
              <a:solidFill>
                <a:srgbClr val="1565C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565C0"/>
              </a:solidFill>
              <a:ln w="9525" cap="flat">
                <a:solidFill>
                  <a:srgbClr val="1565C0"/>
                </a:solidFill>
                <a:prstDash val="solid"/>
                <a:round/>
              </a:ln>
              <a:effectLst/>
            </c:spPr>
          </c:marker>
          <c:xVal>
            <c:numRef>
              <c:f>Sheet1!$A$2:$A$2</c:f>
              <c:numCache>
                <c:formatCode>General</c:formatCode>
                <c:ptCount val="1"/>
                <c:pt idx="0">
                  <c:v>0.5628</c:v>
                </c:pt>
              </c:numCache>
            </c:numRef>
          </c:xVal>
          <c:yVal>
            <c:numRef>
              <c:f>Sheet1!$F$2:$F$2</c:f>
              <c:numCache>
                <c:formatCode>General</c:formatCode>
                <c:ptCount val="1"/>
                <c:pt idx="0">
                  <c:v>0.9698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.02"/>
          <c:min val="0.5"/>
        </c:scaling>
        <c:delete val="0"/>
        <c:axPos val="b"/>
        <c:majorGridlines>
          <c:spPr>
            <a:ln w="6350" cap="flat">
              <a:solidFill>
                <a:srgbClr val="D0D8E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Recall (Attack Detection Rate)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1.02"/>
          <c:min val="0.5"/>
        </c:scaling>
        <c:delete val="0"/>
        <c:axPos val="l"/>
        <c:majorGridlines>
          <c:spPr>
            <a:ln w="6350" cap="flat">
              <a:solidFill>
                <a:srgbClr val="D0D8E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Precision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4F7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0"/>
            <a:ext cx="8503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NSL-KDD Network Intrusion Detection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20040" y="18745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 Algorithms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2578608"/>
            <a:ext cx="4114800" cy="0"/>
          </a:xfrm>
          <a:prstGeom prst="line">
            <a:avLst/>
          </a:prstGeom>
          <a:noFill/>
          <a:ln w="19050">
            <a:solidFill>
              <a:srgbClr val="0083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7889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Classification: Normal vs Anomaly/Attack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MySQL  •  nsl_kdd database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4770 / 6771  •  Data Mining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0" y="2468880"/>
            <a:ext cx="2194560" cy="10058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2523744"/>
            <a:ext cx="2194560" cy="583387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10,264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583680" y="3052267"/>
            <a:ext cx="2194560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records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0" y="3611880"/>
            <a:ext cx="2194560" cy="100584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3666744"/>
            <a:ext cx="2194560" cy="583387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2,803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583680" y="4195267"/>
            <a:ext cx="2194560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records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2482596" cy="256032"/>
          </a:xfrm>
          <a:prstGeom prst="roundRect">
            <a:avLst>
              <a:gd name="adj" fmla="val 21429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24825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PROBLEM STATEMENT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Intrusion Detection Matter?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1298448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attacks are evolving faster than rule-based systems can adapt.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IDS systems: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 manual rule updates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Miss novel attack patterns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Fail on non-linear traffic boundaries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solution: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Learns patterns directly from labelled traffic data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Generalises to unseen attack variants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Evaluated on NSL-KDD — the standard IDS benchmark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0" y="1298448"/>
            <a:ext cx="3291840" cy="13716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0" y="1389888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 : 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0" y="21488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ratio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: Anomaly (train)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0" y="2834640"/>
            <a:ext cx="1572768" cy="713232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0" y="2834640"/>
            <a:ext cx="15727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9,276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205472" y="2834640"/>
            <a:ext cx="1572768" cy="713232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05472" y="2834640"/>
            <a:ext cx="15727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988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0" y="37033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Random oversampling applied to balance training data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2061972" cy="256032"/>
          </a:xfrm>
          <a:prstGeom prst="roundRect">
            <a:avLst>
              <a:gd name="adj" fmla="val 21429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20619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DATA PIPELINE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→ Jupyter → Preprocessing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1554480"/>
            <a:ext cx="1444752" cy="11887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664208"/>
            <a:ext cx="14447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nsl_kdd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6032" y="2212848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test tables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00784" y="2148840"/>
            <a:ext cx="256032" cy="0"/>
          </a:xfrm>
          <a:prstGeom prst="line">
            <a:avLst/>
          </a:prstGeom>
          <a:noFill/>
          <a:ln w="19050">
            <a:solidFill>
              <a:srgbClr val="6070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56816" y="1554480"/>
            <a:ext cx="1444752" cy="1188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56816" y="1664208"/>
            <a:ext cx="14447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pd.read_sql()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56816" y="2212848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mysql-connector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use_pure=True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01568" y="2148840"/>
            <a:ext cx="256032" cy="0"/>
          </a:xfrm>
          <a:prstGeom prst="line">
            <a:avLst/>
          </a:prstGeom>
          <a:noFill/>
          <a:ln w="19050">
            <a:solidFill>
              <a:srgbClr val="6070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0" y="1554480"/>
            <a:ext cx="1444752" cy="118872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1664208"/>
            <a:ext cx="14447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Cleaning.ipynb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0" y="2212848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cap, normalise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duplicates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102352" y="2148840"/>
            <a:ext cx="256032" cy="0"/>
          </a:xfrm>
          <a:prstGeom prst="line">
            <a:avLst/>
          </a:prstGeom>
          <a:noFill/>
          <a:ln w="19050">
            <a:solidFill>
              <a:srgbClr val="6070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58384" y="1554480"/>
            <a:ext cx="1444752" cy="118872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58384" y="1664208"/>
            <a:ext cx="14447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PreProcess.ipynb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58384" y="2212848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42 cols 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common features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03136" y="2148840"/>
            <a:ext cx="256032" cy="0"/>
          </a:xfrm>
          <a:prstGeom prst="line">
            <a:avLst/>
          </a:prstGeom>
          <a:noFill/>
          <a:ln w="19050">
            <a:solidFill>
              <a:srgbClr val="6070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59168" y="1554480"/>
            <a:ext cx="1444752" cy="11887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59168" y="1664208"/>
            <a:ext cx="14447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59168" y="2212848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encode, scale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oversample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0040" y="294436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steps applied: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0040" y="3291840"/>
            <a:ext cx="201168" cy="237744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291840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4360" y="329184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5 zero-variance features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834640" y="3291840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fwd/bwd packet counts + SYN/RST/ACK flags — all constant 0 in NSL-KDD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3639312"/>
            <a:ext cx="201168" cy="237744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3639312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4360" y="3639312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encode categoricals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834640" y="3639312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(3 values) + service_state (232 values) — fit on combined vocab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3986784"/>
            <a:ext cx="201168" cy="237744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3986784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4360" y="3986784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log1p transform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834640" y="398678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6 continuous features — reduces extreme skew from flood attacks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" y="4334256"/>
            <a:ext cx="201168" cy="237744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334256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94360" y="4334256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834640" y="4334256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on train only, applied to both splits — prevents data leakage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20040" y="4681728"/>
            <a:ext cx="201168" cy="237744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68172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94360" y="468172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oversampling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834640" y="4681728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sklearn.utils.resample — minority class duplicated to 9,276 → balanced 1:1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536192" cy="256032"/>
          </a:xfrm>
          <a:prstGeom prst="roundRect">
            <a:avLst>
              <a:gd name="adj" fmla="val 21429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FEATURES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13-Feature Common Schema → 8 Effective Features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402336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9844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FEATURES USED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737360"/>
            <a:ext cx="4023360" cy="338328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737360"/>
            <a:ext cx="18288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log_bwd_bytes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1737360"/>
            <a:ext cx="1554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byte volume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47872" y="1737360"/>
            <a:ext cx="74980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32.0%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103120"/>
            <a:ext cx="40233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103120"/>
            <a:ext cx="18288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log_fwd_bytes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86000" y="2103120"/>
            <a:ext cx="1554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byte volume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47872" y="2103120"/>
            <a:ext cx="74980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25.7%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468880"/>
            <a:ext cx="4023360" cy="338328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468880"/>
            <a:ext cx="18288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88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log_avg_packet_size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86000" y="2468880"/>
            <a:ext cx="1554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bytes per connection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47872" y="2468880"/>
            <a:ext cx="74980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18.9%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834640"/>
            <a:ext cx="40233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834640"/>
            <a:ext cx="18288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88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service_state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86000" y="2834640"/>
            <a:ext cx="1554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+ TCP flag (e.g., http_sf)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547872" y="2834640"/>
            <a:ext cx="74980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12.2%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200400"/>
            <a:ext cx="4023360" cy="338328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200400"/>
            <a:ext cx="18288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3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protocol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86000" y="3200400"/>
            <a:ext cx="1554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/ udp / icmp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47872" y="3200400"/>
            <a:ext cx="74980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3566160"/>
            <a:ext cx="40233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566160"/>
            <a:ext cx="18288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3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log_byte_rate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286000" y="3566160"/>
            <a:ext cx="1554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bytes per second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547872" y="3566160"/>
            <a:ext cx="74980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2.2%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3931920"/>
            <a:ext cx="4023360" cy="338328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931920"/>
            <a:ext cx="18288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3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log_packet_rate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286000" y="3931920"/>
            <a:ext cx="1554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 per second (proxy)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547872" y="3931920"/>
            <a:ext cx="74980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2.1%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4297680"/>
            <a:ext cx="40233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4297680"/>
            <a:ext cx="18288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3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log_flow_duration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286000" y="4297680"/>
            <a:ext cx="1554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duration (seconds)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547872" y="4297680"/>
            <a:ext cx="74980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2.0%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017520" y="135331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RF importance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0" y="1298448"/>
            <a:ext cx="4251960" cy="34747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0" y="129844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FEATURES DROPPED (zero-variance)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0" y="1737360"/>
            <a:ext cx="4251960" cy="338328"/>
          </a:xfrm>
          <a:prstGeom prst="rect">
            <a:avLst/>
          </a:prstGeom>
          <a:solidFill>
            <a:srgbClr val="FFEBEE"/>
          </a:solidFill>
          <a:ln w="12700">
            <a:solidFill>
              <a:srgbClr val="FFEB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1737360"/>
            <a:ext cx="4069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fwd_packet_count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0" y="2103120"/>
            <a:ext cx="4251960" cy="338328"/>
          </a:xfrm>
          <a:prstGeom prst="rect">
            <a:avLst/>
          </a:prstGeom>
          <a:solidFill>
            <a:srgbClr val="FFEBEE"/>
          </a:solidFill>
          <a:ln w="12700">
            <a:solidFill>
              <a:srgbClr val="FFEB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63440" y="2103120"/>
            <a:ext cx="4069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bwd_packet_count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72000" y="2468880"/>
            <a:ext cx="4251960" cy="338328"/>
          </a:xfrm>
          <a:prstGeom prst="rect">
            <a:avLst/>
          </a:prstGeom>
          <a:solidFill>
            <a:srgbClr val="FFEBEE"/>
          </a:solidFill>
          <a:ln w="12700">
            <a:solidFill>
              <a:srgbClr val="FFEB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2468880"/>
            <a:ext cx="4069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syn_flag_count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72000" y="2834640"/>
            <a:ext cx="4251960" cy="338328"/>
          </a:xfrm>
          <a:prstGeom prst="rect">
            <a:avLst/>
          </a:prstGeom>
          <a:solidFill>
            <a:srgbClr val="FFEBEE"/>
          </a:solidFill>
          <a:ln w="12700">
            <a:solidFill>
              <a:srgbClr val="FFEB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63440" y="2834640"/>
            <a:ext cx="4069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rst_flag_count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572000" y="3200400"/>
            <a:ext cx="4251960" cy="338328"/>
          </a:xfrm>
          <a:prstGeom prst="rect">
            <a:avLst/>
          </a:prstGeom>
          <a:solidFill>
            <a:srgbClr val="FFEBEE"/>
          </a:solidFill>
          <a:ln w="12700">
            <a:solidFill>
              <a:srgbClr val="FFEBE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63440" y="3200400"/>
            <a:ext cx="4069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ack_flag_count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572000" y="3566160"/>
            <a:ext cx="4251960" cy="658368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63440" y="3566160"/>
            <a:ext cx="4069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0 in NSL-KDD — per-packet TCP flag counts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captured by this dataset format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325880" cy="256032"/>
          </a:xfrm>
          <a:prstGeom prst="roundRect">
            <a:avLst>
              <a:gd name="adj" fmla="val 21429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MODELS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Classifiers Evaluated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4114800" cy="1078992"/>
          </a:xfrm>
          <a:prstGeom prst="rect">
            <a:avLst/>
          </a:prstGeom>
          <a:solidFill>
            <a:srgbClr val="E8EEF4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98448"/>
            <a:ext cx="64008" cy="1078992"/>
          </a:xfrm>
          <a:prstGeom prst="rect">
            <a:avLst/>
          </a:prstGeom>
          <a:solidFill>
            <a:srgbClr val="607080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38988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84632" y="1773936"/>
            <a:ext cx="1005840" cy="219456"/>
          </a:xfrm>
          <a:prstGeom prst="rect">
            <a:avLst/>
          </a:prstGeom>
          <a:solidFill>
            <a:srgbClr val="607080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77393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581912" y="1773936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— non-linear data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505456"/>
            <a:ext cx="4114800" cy="1078992"/>
          </a:xfrm>
          <a:prstGeom prst="rect">
            <a:avLst/>
          </a:prstGeom>
          <a:solidFill>
            <a:srgbClr val="E8EEF4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505456"/>
            <a:ext cx="64008" cy="1078992"/>
          </a:xfrm>
          <a:prstGeom prst="rect">
            <a:avLst/>
          </a:prstGeom>
          <a:solidFill>
            <a:srgbClr val="607080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259689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84632" y="2980944"/>
            <a:ext cx="1005840" cy="219456"/>
          </a:xfrm>
          <a:prstGeom prst="rect">
            <a:avLst/>
          </a:prstGeom>
          <a:solidFill>
            <a:srgbClr val="607080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298094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581912" y="2980944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Independence assumption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712464"/>
            <a:ext cx="4114800" cy="1078992"/>
          </a:xfrm>
          <a:prstGeom prst="rect">
            <a:avLst/>
          </a:prstGeom>
          <a:solidFill>
            <a:srgbClr val="E8EEF4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712464"/>
            <a:ext cx="64008" cy="107899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380390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 (k=5)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84632" y="4187952"/>
            <a:ext cx="1005840" cy="219456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" y="418795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581912" y="4187952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Non-parametric, strong recall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1298448"/>
            <a:ext cx="4114800" cy="1078992"/>
          </a:xfrm>
          <a:prstGeom prst="rect">
            <a:avLst/>
          </a:prstGeom>
          <a:solidFill>
            <a:srgbClr val="E8EEF4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0600" y="1298448"/>
            <a:ext cx="64008" cy="10789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65192" y="138988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965192" y="1773936"/>
            <a:ext cx="1005840" cy="21945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65192" y="177393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62472" y="1773936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interpretable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2505456"/>
            <a:ext cx="4114800" cy="10789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2505456"/>
            <a:ext cx="64008" cy="10789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65192" y="259689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965192" y="2980944"/>
            <a:ext cx="1005840" cy="21945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65192" y="298094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062472" y="2980944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trees, best overall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65192" y="331012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BEST MODEL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00600" y="3712464"/>
            <a:ext cx="4114800" cy="1078992"/>
          </a:xfrm>
          <a:prstGeom prst="rect">
            <a:avLst/>
          </a:prstGeom>
          <a:solidFill>
            <a:srgbClr val="E8EEF4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00600" y="3712464"/>
            <a:ext cx="64008" cy="10789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65192" y="380390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 (RBF)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4965192" y="4187952"/>
            <a:ext cx="1005840" cy="21945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65192" y="418795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062472" y="4187952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Max-margin, robust to outliers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2377440" cy="256032"/>
          </a:xfrm>
          <a:prstGeom prst="roundRect">
            <a:avLst>
              <a:gd name="adj" fmla="val 21429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CROSS-VALIDATION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F1-Scores — Oversampled Training Set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14400" y="4000500"/>
            <a:ext cx="7772400" cy="0"/>
          </a:xfrm>
          <a:prstGeom prst="line">
            <a:avLst/>
          </a:prstGeom>
          <a:noFill/>
          <a:ln w="6350">
            <a:solidFill>
              <a:srgbClr val="D0D8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86334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3200400"/>
            <a:ext cx="7772400" cy="0"/>
          </a:xfrm>
          <a:prstGeom prst="line">
            <a:avLst/>
          </a:prstGeom>
          <a:noFill/>
          <a:ln w="6350">
            <a:solidFill>
              <a:srgbClr val="D0D8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06324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14400" y="2400300"/>
            <a:ext cx="7772400" cy="0"/>
          </a:xfrm>
          <a:prstGeom prst="line">
            <a:avLst/>
          </a:prstGeom>
          <a:noFill/>
          <a:ln w="6350">
            <a:solidFill>
              <a:srgbClr val="D0D8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6314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14400" y="1600200"/>
            <a:ext cx="7772400" cy="0"/>
          </a:xfrm>
          <a:prstGeom prst="line">
            <a:avLst/>
          </a:prstGeom>
          <a:noFill/>
          <a:ln w="6350">
            <a:solidFill>
              <a:srgbClr val="D0D8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46304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05840" y="3208401"/>
            <a:ext cx="841248" cy="1272159"/>
          </a:xfrm>
          <a:prstGeom prst="rect">
            <a:avLst/>
          </a:prstGeom>
          <a:solidFill>
            <a:srgbClr val="607080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952369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0.8995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4526280"/>
            <a:ext cx="841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350008" y="3118790"/>
            <a:ext cx="841248" cy="1361770"/>
          </a:xfrm>
          <a:prstGeom prst="rect">
            <a:avLst/>
          </a:prstGeom>
          <a:solidFill>
            <a:srgbClr val="607080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2862758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0.9051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50008" y="4526280"/>
            <a:ext cx="841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94176" y="1697812"/>
            <a:ext cx="841248" cy="278274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94176" y="1441780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0.9939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94176" y="4526280"/>
            <a:ext cx="841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38344" y="1649806"/>
            <a:ext cx="841248" cy="283075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38344" y="1393774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0.9969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38344" y="4526280"/>
            <a:ext cx="841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82512" y="1635404"/>
            <a:ext cx="841248" cy="284515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82512" y="1379372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0.9978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82512" y="4526280"/>
            <a:ext cx="841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726680" y="1973047"/>
            <a:ext cx="841248" cy="2507513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26680" y="1717015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0.9767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726680" y="4526280"/>
            <a:ext cx="841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tree-based models exceed 0.99 CV F1 — confirming strong generalisation with oversampling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431036" cy="256032"/>
          </a:xfrm>
          <a:prstGeom prst="roundRect">
            <a:avLst>
              <a:gd name="adj" fmla="val 21429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4310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Performance — All Six Models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316736"/>
            <a:ext cx="237744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31673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97480" y="1316736"/>
            <a:ext cx="1170432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7480" y="1316736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67912" y="1316736"/>
            <a:ext cx="1170432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67912" y="1316736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38344" y="1316736"/>
            <a:ext cx="1170432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38344" y="1316736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08776" y="1316736"/>
            <a:ext cx="1170432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08776" y="1316736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79208" y="1316736"/>
            <a:ext cx="1170432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79208" y="1316736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1664208"/>
            <a:ext cx="2377440" cy="466344"/>
          </a:xfrm>
          <a:prstGeom prst="rect">
            <a:avLst/>
          </a:prstGeom>
          <a:solidFill>
            <a:srgbClr val="E8EEF4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" y="1664208"/>
            <a:ext cx="230428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697480" y="1664208"/>
            <a:ext cx="1170432" cy="466344"/>
          </a:xfrm>
          <a:prstGeom prst="rect">
            <a:avLst/>
          </a:prstGeom>
          <a:solidFill>
            <a:srgbClr val="E8EEF4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34056" y="1664208"/>
            <a:ext cx="10972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0.8980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867912" y="1664208"/>
            <a:ext cx="1170432" cy="466344"/>
          </a:xfrm>
          <a:prstGeom prst="rect">
            <a:avLst/>
          </a:prstGeom>
          <a:solidFill>
            <a:srgbClr val="E8EEF4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04488" y="1664208"/>
            <a:ext cx="10972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0.5628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38344" y="1664208"/>
            <a:ext cx="1170432" cy="466344"/>
          </a:xfrm>
          <a:prstGeom prst="rect">
            <a:avLst/>
          </a:prstGeom>
          <a:solidFill>
            <a:srgbClr val="E8EEF4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1664208"/>
            <a:ext cx="10972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0.9109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08776" y="1664208"/>
            <a:ext cx="1170432" cy="466344"/>
          </a:xfrm>
          <a:prstGeom prst="rect">
            <a:avLst/>
          </a:prstGeom>
          <a:solidFill>
            <a:srgbClr val="E8EEF4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45352" y="1664208"/>
            <a:ext cx="10972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0.6957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79208" y="1664208"/>
            <a:ext cx="1170432" cy="466344"/>
          </a:xfrm>
          <a:prstGeom prst="rect">
            <a:avLst/>
          </a:prstGeom>
          <a:solidFill>
            <a:srgbClr val="E8EEF4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15784" y="1664208"/>
            <a:ext cx="10972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0.9364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" y="2157984"/>
            <a:ext cx="237744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6616" y="2157984"/>
            <a:ext cx="230428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697480" y="2157984"/>
            <a:ext cx="1170432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34056" y="2157984"/>
            <a:ext cx="10972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0.9026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867912" y="2157984"/>
            <a:ext cx="1170432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04488" y="2157984"/>
            <a:ext cx="10972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0.5760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038344" y="2157984"/>
            <a:ext cx="1170432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74920" y="2157984"/>
            <a:ext cx="10972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0.9081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08776" y="2157984"/>
            <a:ext cx="1170432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45352" y="2157984"/>
            <a:ext cx="10972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0.7049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379208" y="2157984"/>
            <a:ext cx="1170432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15784" y="2157984"/>
            <a:ext cx="10972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0.9466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20040" y="2651760"/>
            <a:ext cx="2377440" cy="466344"/>
          </a:xfrm>
          <a:prstGeom prst="rect">
            <a:avLst/>
          </a:prstGeom>
          <a:solidFill>
            <a:srgbClr val="E8EEF4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6616" y="2651760"/>
            <a:ext cx="230428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697480" y="2651760"/>
            <a:ext cx="1170432" cy="466344"/>
          </a:xfrm>
          <a:prstGeom prst="rect">
            <a:avLst/>
          </a:prstGeom>
          <a:solidFill>
            <a:srgbClr val="E8EEF4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34056" y="2651760"/>
            <a:ext cx="10972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0.9850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867912" y="2651760"/>
            <a:ext cx="1170432" cy="466344"/>
          </a:xfrm>
          <a:prstGeom prst="rect">
            <a:avLst/>
          </a:prstGeom>
          <a:solidFill>
            <a:srgbClr val="E8EEF4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04488" y="2651760"/>
            <a:ext cx="10972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0.9054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038344" y="2651760"/>
            <a:ext cx="1170432" cy="466344"/>
          </a:xfrm>
          <a:prstGeom prst="rect">
            <a:avLst/>
          </a:prstGeom>
          <a:solidFill>
            <a:srgbClr val="E8EEF4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74920" y="2651760"/>
            <a:ext cx="10972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0.9861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208776" y="2651760"/>
            <a:ext cx="1170432" cy="466344"/>
          </a:xfrm>
          <a:prstGeom prst="rect">
            <a:avLst/>
          </a:prstGeom>
          <a:solidFill>
            <a:srgbClr val="E8EEF4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45352" y="2651760"/>
            <a:ext cx="10972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0.9440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379208" y="2651760"/>
            <a:ext cx="1170432" cy="466344"/>
          </a:xfrm>
          <a:prstGeom prst="rect">
            <a:avLst/>
          </a:prstGeom>
          <a:solidFill>
            <a:srgbClr val="E8EEF4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415784" y="2651760"/>
            <a:ext cx="10972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0.9948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20040" y="3145536"/>
            <a:ext cx="237744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56616" y="3145536"/>
            <a:ext cx="230428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697480" y="3145536"/>
            <a:ext cx="1170432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34056" y="3145536"/>
            <a:ext cx="10972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0.9918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3867912" y="3145536"/>
            <a:ext cx="1170432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904488" y="3145536"/>
            <a:ext cx="10972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0.9590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5038344" y="3145536"/>
            <a:ext cx="1170432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74920" y="3145536"/>
            <a:ext cx="10972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0.9777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6208776" y="3145536"/>
            <a:ext cx="1170432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45352" y="3145536"/>
            <a:ext cx="10972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0.9683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7379208" y="3145536"/>
            <a:ext cx="1170432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15784" y="3145536"/>
            <a:ext cx="10972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0.9871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320040" y="3639312"/>
            <a:ext cx="2377440" cy="4663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56616" y="3639312"/>
            <a:ext cx="230428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2697480" y="3639312"/>
            <a:ext cx="1170432" cy="4663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734056" y="3639312"/>
            <a:ext cx="10972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0.9939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3867912" y="3639312"/>
            <a:ext cx="1170432" cy="4663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904488" y="3639312"/>
            <a:ext cx="10972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0.9698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5038344" y="3639312"/>
            <a:ext cx="1170432" cy="4663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074920" y="3639312"/>
            <a:ext cx="10972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0.9833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6208776" y="3639312"/>
            <a:ext cx="1170432" cy="4663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245352" y="3639312"/>
            <a:ext cx="10972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0.9765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7379208" y="3639312"/>
            <a:ext cx="1170432" cy="4663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415784" y="3639312"/>
            <a:ext cx="10972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0.9980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8549640" y="3639312"/>
            <a:ext cx="82296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BEST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320040" y="4133088"/>
            <a:ext cx="237744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56616" y="4133088"/>
            <a:ext cx="230428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2697480" y="4133088"/>
            <a:ext cx="1170432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734056" y="4133088"/>
            <a:ext cx="10972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0.9818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3867912" y="4133088"/>
            <a:ext cx="1170432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904488" y="4133088"/>
            <a:ext cx="10972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0.8869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5038344" y="4133088"/>
            <a:ext cx="1170432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074920" y="4133088"/>
            <a:ext cx="10972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0.9833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6208776" y="4133088"/>
            <a:ext cx="1170432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245352" y="4133088"/>
            <a:ext cx="10972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0.9326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7379208" y="4133088"/>
            <a:ext cx="1170432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415784" y="4133088"/>
            <a:ext cx="10972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0.9948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2692908" cy="256032"/>
          </a:xfrm>
          <a:prstGeom prst="roundRect">
            <a:avLst>
              <a:gd name="adj" fmla="val 21429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26929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OVERSAMPLING IMPACT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F1-Score: Without vs With Oversampling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1188720"/>
          <a:ext cx="85039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Oversampling significantly boosts Recall for linear models. Tree-based methods show smaller but consistent gains.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746504" cy="256032"/>
          </a:xfrm>
          <a:prstGeom prst="roundRect">
            <a:avLst>
              <a:gd name="adj" fmla="val 21429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BEST MODEL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— Confusion Matrix &amp; Key Metrics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377440" y="1005840"/>
            <a:ext cx="384048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0" y="10058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77440" y="1371600"/>
            <a:ext cx="1920240" cy="1371600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13716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371600"/>
            <a:ext cx="1920240" cy="1371600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13716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1920240" cy="13716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603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1920240" cy="1371600"/>
          </a:xfrm>
          <a:prstGeom prst="rect">
            <a:avLst/>
          </a:prstGeom>
          <a:solidFill>
            <a:srgbClr val="E3F0FF"/>
          </a:solidFill>
          <a:ln w="12700">
            <a:solidFill>
              <a:srgbClr val="E3F0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74320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1920240" cy="1371600"/>
          </a:xfrm>
          <a:prstGeom prst="rect">
            <a:avLst/>
          </a:prstGeom>
          <a:solidFill>
            <a:srgbClr val="E3F0FF"/>
          </a:solidFill>
          <a:ln w="12700">
            <a:solidFill>
              <a:srgbClr val="E3F0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11480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377440" y="2743200"/>
            <a:ext cx="1920240" cy="137160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77440" y="30632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2,433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2377440" y="36576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97680" y="2743200"/>
            <a:ext cx="1920240" cy="137160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0" y="30632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297680" y="36576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377440" y="4114800"/>
            <a:ext cx="1920240" cy="1371600"/>
          </a:xfrm>
          <a:prstGeom prst="rect">
            <a:avLst/>
          </a:prstGeom>
          <a:solidFill>
            <a:srgbClr val="FFEBEE"/>
          </a:solidFill>
          <a:ln w="12700">
            <a:solidFill>
              <a:srgbClr val="FFEB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77440" y="4434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2377440" y="50292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97680" y="4114800"/>
            <a:ext cx="1920240" cy="137160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97680" y="4434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353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4297680" y="50292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63640" y="1234440"/>
            <a:ext cx="265176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1289304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99.39%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263640" y="17647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63640" y="2240280"/>
            <a:ext cx="2651760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3640" y="2295144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0.9765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6263640" y="277063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63640" y="3246120"/>
            <a:ext cx="2651760" cy="91440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63640" y="3300984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0.9980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6263640" y="377647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63640" y="4251960"/>
            <a:ext cx="2651760" cy="7132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63640" y="4306824"/>
            <a:ext cx="2651760" cy="41367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6263640" y="4665635"/>
            <a:ext cx="2651760" cy="271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misclassifications / 2,803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2587752" cy="256032"/>
          </a:xfrm>
          <a:prstGeom prst="roundRect">
            <a:avLst>
              <a:gd name="adj" fmla="val 21429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FEATURE IMPORTANCE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the Prediction? (Random Forest Gini)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423160" y="1298448"/>
            <a:ext cx="5303520" cy="347472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23160" y="1298448"/>
            <a:ext cx="4848933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98448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log_bwd_bytes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63533" y="1298448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32.0%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23160" y="1755648"/>
            <a:ext cx="5303520" cy="347472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23160" y="1755648"/>
            <a:ext cx="3894299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755648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log_fwd_bytes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8899" y="1755648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25.7%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23160" y="2212848"/>
            <a:ext cx="5303520" cy="347472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23160" y="2212848"/>
            <a:ext cx="2863901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212848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log_avg_packet_size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78501" y="2212848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18.9%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423160" y="2670048"/>
            <a:ext cx="5303520" cy="347472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23160" y="2670048"/>
            <a:ext cx="1848656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670048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service_state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63256" y="2670048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423160" y="3127248"/>
            <a:ext cx="5303520" cy="347472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23160" y="3127248"/>
            <a:ext cx="742493" cy="34747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127248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83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protocol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57093" y="3127248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423160" y="3584448"/>
            <a:ext cx="5303520" cy="347472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423160" y="3584448"/>
            <a:ext cx="333364" cy="34747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584448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83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log_byte_rate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847964" y="3584448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423160" y="4041648"/>
            <a:ext cx="5303520" cy="347472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23160" y="4041648"/>
            <a:ext cx="318211" cy="34747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041648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83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log_packet_rate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832811" y="4041648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2.1%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423160" y="4498848"/>
            <a:ext cx="5303520" cy="347472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23160" y="4498848"/>
            <a:ext cx="303058" cy="34747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4498848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83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log_flow_duration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817658" y="4498848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2.0%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760720" y="1298448"/>
            <a:ext cx="3063240" cy="2194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60720" y="1298448"/>
            <a:ext cx="30632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4 features account for
</a:t>
            </a:r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76.6%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predictive power
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volume signals (bwd + fwd)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dominate — flood attacks send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 data volumes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20040" y="4736592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compact 4-feature model using only byte volumes + avg_packet_size + service_state achieves near-equivalent performance.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746504" cy="256032"/>
          </a:xfrm>
          <a:prstGeom prst="roundRect">
            <a:avLst>
              <a:gd name="adj" fmla="val 21429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COMPARISON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at a Glance — Precision vs Recall Trade-off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1188720"/>
          <a:ext cx="850392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sits in the top-right corner — highest Precision AND high Recall.  KNN achieves marginally higher Recall at the cost of more false positives.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200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3931920" cy="310896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5156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201168" cy="32004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6304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is best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77440" y="1463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F1=0.9765, AUC=0.9980 — only 17 misclassifications / 2,803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938528"/>
            <a:ext cx="201168" cy="32004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938528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19385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volume dominates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77440" y="19385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log_bwd_bytes + log_fwd_bytes = 57.7% of feature importance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414016"/>
            <a:ext cx="201168" cy="32004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414016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241401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Oversampling helps LR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377440" y="241401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Recall jumps 0.78 → 0.91; tree models show smaller gains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2889504"/>
            <a:ext cx="201168" cy="32004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889504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" y="288950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NSL-KDD limitation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377440" y="288950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features are constant 0 — limits to 8 effective features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1051560"/>
            <a:ext cx="4251960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1051560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1517904"/>
            <a:ext cx="164592" cy="20116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14630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Multiclass classification (DoS · Probe · R2L · U2R)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0" y="1993392"/>
            <a:ext cx="164592" cy="20116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193852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Cross-dataset transfer to UNSW-NB15 / CICIDS2017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0" y="2468880"/>
            <a:ext cx="164592" cy="20116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241401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via grid search / Bayesian opt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0" y="2944368"/>
            <a:ext cx="164592" cy="20116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288950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baselines: Isolation Forest, One-Class SVM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0" y="3419856"/>
            <a:ext cx="164592" cy="20116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336499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4-feature deployment model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20040" y="4370832"/>
            <a:ext cx="201168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437083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99.39%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320040" y="47365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496312" y="4370832"/>
            <a:ext cx="201168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96312" y="437083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0.9765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2496312" y="47365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72584" y="4370832"/>
            <a:ext cx="201168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72584" y="437083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0.9980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4672584" y="47365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848856" y="4370832"/>
            <a:ext cx="201168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48856" y="437083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6848856" y="47365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Misclassifications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NSL-KDD Network Intrusion Detection</dc:title>
  <dc:subject>PptxGenJS Presentation</dc:subject>
  <dc:creator>PptxGenJS</dc:creator>
  <cp:lastModifiedBy>PptxGenJS</cp:lastModifiedBy>
  <cp:revision>1</cp:revision>
  <dcterms:created xsi:type="dcterms:W3CDTF">2026-04-20T00:15:18Z</dcterms:created>
  <dcterms:modified xsi:type="dcterms:W3CDTF">2026-04-20T00:15:18Z</dcterms:modified>
</cp:coreProperties>
</file>